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ileron Bold" charset="1" panose="00000800000000000000"/>
      <p:regular r:id="rId27"/>
    </p:embeddedFont>
    <p:embeddedFont>
      <p:font typeface="Koho Bold" charset="1" panose="00000800000000000000"/>
      <p:regular r:id="rId28"/>
    </p:embeddedFont>
    <p:embeddedFont>
      <p:font typeface="Koho" charset="1" panose="00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6.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7.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2.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3.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5.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TextBox 10" id="10"/>
          <p:cNvSpPr txBox="true"/>
          <p:nvPr/>
        </p:nvSpPr>
        <p:spPr>
          <a:xfrm rot="0">
            <a:off x="0" y="2035045"/>
            <a:ext cx="15808562" cy="1717676"/>
          </a:xfrm>
          <a:prstGeom prst="rect">
            <a:avLst/>
          </a:prstGeom>
        </p:spPr>
        <p:txBody>
          <a:bodyPr anchor="t" rtlCol="false" tIns="0" lIns="0" bIns="0" rIns="0">
            <a:spAutoFit/>
          </a:bodyPr>
          <a:lstStyle/>
          <a:p>
            <a:pPr algn="ctr">
              <a:lnSpc>
                <a:spcPts val="13999"/>
              </a:lnSpc>
            </a:pPr>
            <a:r>
              <a:rPr lang="en-US" b="true" sz="9999">
                <a:solidFill>
                  <a:srgbClr val="E3A73A"/>
                </a:solidFill>
                <a:latin typeface="Aileron Bold"/>
                <a:ea typeface="Aileron Bold"/>
                <a:cs typeface="Aileron Bold"/>
                <a:sym typeface="Aileron Bold"/>
              </a:rPr>
              <a:t>E-COMMERCE</a:t>
            </a:r>
            <a:r>
              <a:rPr lang="en-US" b="true" sz="9999">
                <a:solidFill>
                  <a:srgbClr val="000000"/>
                </a:solidFill>
                <a:latin typeface="Aileron Bold"/>
                <a:ea typeface="Aileron Bold"/>
                <a:cs typeface="Aileron Bold"/>
                <a:sym typeface="Aileron Bold"/>
              </a:rPr>
              <a:t> PROJECT</a:t>
            </a:r>
          </a:p>
        </p:txBody>
      </p:sp>
      <p:sp>
        <p:nvSpPr>
          <p:cNvPr name="Freeform 11" id="11"/>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2" id="12"/>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8766294" y="8011502"/>
            <a:ext cx="8522150" cy="828717"/>
          </a:xfrm>
          <a:prstGeom prst="rect">
            <a:avLst/>
          </a:prstGeom>
        </p:spPr>
        <p:txBody>
          <a:bodyPr anchor="t" rtlCol="false" tIns="0" lIns="0" bIns="0" rIns="0">
            <a:spAutoFit/>
          </a:bodyPr>
          <a:lstStyle/>
          <a:p>
            <a:pPr algn="ctr">
              <a:lnSpc>
                <a:spcPts val="6822"/>
              </a:lnSpc>
            </a:pPr>
            <a:r>
              <a:rPr lang="en-US" sz="4873" b="true">
                <a:solidFill>
                  <a:srgbClr val="000000"/>
                </a:solidFill>
                <a:latin typeface="Koho Bold"/>
                <a:ea typeface="Koho Bold"/>
                <a:cs typeface="Koho Bold"/>
                <a:sym typeface="Koho Bold"/>
              </a:rPr>
              <a:t>By, GANESH V</a:t>
            </a:r>
          </a:p>
        </p:txBody>
      </p:sp>
      <p:sp>
        <p:nvSpPr>
          <p:cNvPr name="Freeform 14" id="14"/>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1835583" y="3743446"/>
            <a:ext cx="14826429" cy="828717"/>
          </a:xfrm>
          <a:prstGeom prst="rect">
            <a:avLst/>
          </a:prstGeom>
        </p:spPr>
        <p:txBody>
          <a:bodyPr anchor="t" rtlCol="false" tIns="0" lIns="0" bIns="0" rIns="0">
            <a:spAutoFit/>
          </a:bodyPr>
          <a:lstStyle/>
          <a:p>
            <a:pPr algn="ctr">
              <a:lnSpc>
                <a:spcPts val="6822"/>
              </a:lnSpc>
            </a:pPr>
            <a:r>
              <a:rPr lang="en-US" sz="4873">
                <a:solidFill>
                  <a:srgbClr val="000000"/>
                </a:solidFill>
                <a:latin typeface="Koho"/>
                <a:ea typeface="Koho"/>
                <a:cs typeface="Koho"/>
                <a:sym typeface="Koho"/>
              </a:rPr>
              <a:t>Sales Analysis &amp; Customer Experience Optimization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519645" y="613044"/>
            <a:ext cx="8493297"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AGENDA</a:t>
            </a:r>
          </a:p>
        </p:txBody>
      </p:sp>
      <p:sp>
        <p:nvSpPr>
          <p:cNvPr name="TextBox 14" id="14"/>
          <p:cNvSpPr txBox="true"/>
          <p:nvPr/>
        </p:nvSpPr>
        <p:spPr>
          <a:xfrm rot="0">
            <a:off x="3533266" y="2636115"/>
            <a:ext cx="10901088" cy="4772025"/>
          </a:xfrm>
          <a:prstGeom prst="rect">
            <a:avLst/>
          </a:prstGeom>
        </p:spPr>
        <p:txBody>
          <a:bodyPr anchor="t" rtlCol="false" tIns="0" lIns="0" bIns="0" rIns="0">
            <a:spAutoFit/>
          </a:bodyPr>
          <a:lstStyle/>
          <a:p>
            <a:pPr algn="ctr">
              <a:lnSpc>
                <a:spcPts val="6300"/>
              </a:lnSpc>
            </a:pPr>
            <a:r>
              <a:rPr lang="en-US" sz="4500">
                <a:solidFill>
                  <a:srgbClr val="000000"/>
                </a:solidFill>
                <a:latin typeface="Koho"/>
                <a:ea typeface="Koho"/>
                <a:cs typeface="Koho"/>
                <a:sym typeface="Koho"/>
              </a:rPr>
              <a:t>Problem Statement</a:t>
            </a:r>
          </a:p>
          <a:p>
            <a:pPr algn="ctr">
              <a:lnSpc>
                <a:spcPts val="6300"/>
              </a:lnSpc>
            </a:pPr>
            <a:r>
              <a:rPr lang="en-US" sz="4500">
                <a:solidFill>
                  <a:srgbClr val="000000"/>
                </a:solidFill>
                <a:latin typeface="Koho"/>
                <a:ea typeface="Koho"/>
                <a:cs typeface="Koho"/>
                <a:sym typeface="Koho"/>
              </a:rPr>
              <a:t>Data Overview &amp; Cleaning</a:t>
            </a:r>
          </a:p>
          <a:p>
            <a:pPr algn="ctr">
              <a:lnSpc>
                <a:spcPts val="6300"/>
              </a:lnSpc>
            </a:pPr>
            <a:r>
              <a:rPr lang="en-US" sz="4500">
                <a:solidFill>
                  <a:srgbClr val="000000"/>
                </a:solidFill>
                <a:latin typeface="Koho"/>
                <a:ea typeface="Koho"/>
                <a:cs typeface="Koho"/>
                <a:sym typeface="Koho"/>
              </a:rPr>
              <a:t>Key Analysis &amp; Insights</a:t>
            </a:r>
          </a:p>
          <a:p>
            <a:pPr algn="ctr">
              <a:lnSpc>
                <a:spcPts val="6300"/>
              </a:lnSpc>
            </a:pPr>
            <a:r>
              <a:rPr lang="en-US" sz="4500">
                <a:solidFill>
                  <a:srgbClr val="000000"/>
                </a:solidFill>
                <a:latin typeface="Koho"/>
                <a:ea typeface="Koho"/>
                <a:cs typeface="Koho"/>
                <a:sym typeface="Koho"/>
              </a:rPr>
              <a:t>Loyalty Program Design</a:t>
            </a:r>
          </a:p>
          <a:p>
            <a:pPr algn="ctr">
              <a:lnSpc>
                <a:spcPts val="6300"/>
              </a:lnSpc>
            </a:pPr>
            <a:r>
              <a:rPr lang="en-US" sz="4500">
                <a:solidFill>
                  <a:srgbClr val="000000"/>
                </a:solidFill>
                <a:latin typeface="Koho"/>
                <a:ea typeface="Koho"/>
                <a:cs typeface="Koho"/>
                <a:sym typeface="Koho"/>
              </a:rPr>
              <a:t>Dashboard Walkthrough</a:t>
            </a:r>
          </a:p>
          <a:p>
            <a:pPr algn="ctr">
              <a:lnSpc>
                <a:spcPts val="6300"/>
              </a:lnSpc>
            </a:pPr>
            <a:r>
              <a:rPr lang="en-US" sz="4500">
                <a:solidFill>
                  <a:srgbClr val="000000"/>
                </a:solidFill>
                <a:latin typeface="Koho"/>
                <a:ea typeface="Koho"/>
                <a:cs typeface="Koho"/>
                <a:sym typeface="Koho"/>
              </a:rPr>
              <a:t>Recommendations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5110" y="499887"/>
            <a:ext cx="12142367"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PROBLEM STATEMENT</a:t>
            </a:r>
          </a:p>
        </p:txBody>
      </p:sp>
      <p:sp>
        <p:nvSpPr>
          <p:cNvPr name="TextBox 14" id="14"/>
          <p:cNvSpPr txBox="true"/>
          <p:nvPr/>
        </p:nvSpPr>
        <p:spPr>
          <a:xfrm rot="0">
            <a:off x="2148880" y="2655165"/>
            <a:ext cx="14513132" cy="5603875"/>
          </a:xfrm>
          <a:prstGeom prst="rect">
            <a:avLst/>
          </a:prstGeom>
        </p:spPr>
        <p:txBody>
          <a:bodyPr anchor="t" rtlCol="false" tIns="0" lIns="0" bIns="0" rIns="0">
            <a:spAutoFit/>
          </a:bodyPr>
          <a:lstStyle/>
          <a:p>
            <a:pPr algn="ctr">
              <a:lnSpc>
                <a:spcPts val="5599"/>
              </a:lnSpc>
            </a:pPr>
            <a:r>
              <a:rPr lang="en-US" sz="3999">
                <a:solidFill>
                  <a:srgbClr val="000000"/>
                </a:solidFill>
                <a:latin typeface="Koho"/>
                <a:ea typeface="Koho"/>
                <a:cs typeface="Koho"/>
                <a:sym typeface="Koho"/>
              </a:rPr>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239270" y="1955778"/>
            <a:ext cx="17778275" cy="7922444"/>
          </a:xfrm>
          <a:custGeom>
            <a:avLst/>
            <a:gdLst/>
            <a:ahLst/>
            <a:cxnLst/>
            <a:rect r="r" b="b" t="t" l="l"/>
            <a:pathLst>
              <a:path h="7922444" w="17778275">
                <a:moveTo>
                  <a:pt x="0" y="0"/>
                </a:moveTo>
                <a:lnTo>
                  <a:pt x="17778275" y="0"/>
                </a:lnTo>
                <a:lnTo>
                  <a:pt x="17778275" y="7922444"/>
                </a:lnTo>
                <a:lnTo>
                  <a:pt x="0" y="7922444"/>
                </a:lnTo>
                <a:lnTo>
                  <a:pt x="0" y="0"/>
                </a:lnTo>
                <a:close/>
              </a:path>
            </a:pathLst>
          </a:custGeom>
          <a:blipFill>
            <a:blip r:embed="rId14"/>
            <a:stretch>
              <a:fillRect l="0" t="0" r="0" b="0"/>
            </a:stretch>
          </a:blipFill>
        </p:spPr>
      </p:sp>
      <p:sp>
        <p:nvSpPr>
          <p:cNvPr name="TextBox 14" id="14"/>
          <p:cNvSpPr txBox="true"/>
          <p:nvPr/>
        </p:nvSpPr>
        <p:spPr>
          <a:xfrm rot="0">
            <a:off x="2695110" y="499887"/>
            <a:ext cx="12142367"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DATASET OVERVIEW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5110" y="499887"/>
            <a:ext cx="12142367"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DATASET OVERVIEW</a:t>
            </a:r>
          </a:p>
        </p:txBody>
      </p:sp>
      <p:sp>
        <p:nvSpPr>
          <p:cNvPr name="TextBox 14" id="14"/>
          <p:cNvSpPr txBox="true"/>
          <p:nvPr/>
        </p:nvSpPr>
        <p:spPr>
          <a:xfrm rot="0">
            <a:off x="1327505" y="2655165"/>
            <a:ext cx="15334507" cy="56038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2 tables: </a:t>
            </a:r>
          </a:p>
          <a:p>
            <a:pPr algn="l">
              <a:lnSpc>
                <a:spcPts val="5599"/>
              </a:lnSpc>
            </a:pPr>
            <a:r>
              <a:rPr lang="en-US" sz="3999">
                <a:solidFill>
                  <a:srgbClr val="000000"/>
                </a:solidFill>
                <a:latin typeface="Koho"/>
                <a:ea typeface="Koho"/>
                <a:cs typeface="Koho"/>
                <a:sym typeface="Koho"/>
              </a:rPr>
              <a:t>Orders (113,000 rows, 17 columns) </a:t>
            </a:r>
          </a:p>
          <a:p>
            <a:pPr algn="l">
              <a:lnSpc>
                <a:spcPts val="5599"/>
              </a:lnSpc>
            </a:pPr>
            <a:r>
              <a:rPr lang="en-US" sz="3999">
                <a:solidFill>
                  <a:srgbClr val="000000"/>
                </a:solidFill>
                <a:latin typeface="Koho"/>
                <a:ea typeface="Koho"/>
                <a:cs typeface="Koho"/>
                <a:sym typeface="Koho"/>
              </a:rPr>
              <a:t>Customers (113,000 rows, 3 columns)</a:t>
            </a:r>
          </a:p>
          <a:p>
            <a:pPr algn="l" marL="863599" indent="-431800" lvl="1">
              <a:lnSpc>
                <a:spcPts val="5599"/>
              </a:lnSpc>
              <a:buFont typeface="Arial"/>
              <a:buChar char="•"/>
            </a:pPr>
            <a:r>
              <a:rPr lang="en-US" sz="3999">
                <a:solidFill>
                  <a:srgbClr val="000000"/>
                </a:solidFill>
                <a:latin typeface="Koho"/>
                <a:ea typeface="Koho"/>
                <a:cs typeface="Koho"/>
                <a:sym typeface="Koho"/>
              </a:rPr>
              <a:t>Time range from Year 2015 to 2020</a:t>
            </a:r>
          </a:p>
          <a:p>
            <a:pPr algn="l" marL="863599" indent="-431800" lvl="1">
              <a:lnSpc>
                <a:spcPts val="5599"/>
              </a:lnSpc>
              <a:buFont typeface="Arial"/>
              <a:buChar char="•"/>
            </a:pPr>
            <a:r>
              <a:rPr lang="en-US" sz="3999">
                <a:solidFill>
                  <a:srgbClr val="000000"/>
                </a:solidFill>
                <a:latin typeface="Koho"/>
                <a:ea typeface="Koho"/>
                <a:cs typeface="Koho"/>
                <a:sym typeface="Koho"/>
              </a:rPr>
              <a:t>Key fields in Orders table: OrderDate, CustomerID, Product, Category, Price, Status, Rating</a:t>
            </a:r>
          </a:p>
          <a:p>
            <a:pPr algn="l" marL="863599" indent="-431800" lvl="1">
              <a:lnSpc>
                <a:spcPts val="5599"/>
              </a:lnSpc>
              <a:buFont typeface="Arial"/>
              <a:buChar char="•"/>
            </a:pPr>
            <a:r>
              <a:rPr lang="en-US" sz="3999">
                <a:solidFill>
                  <a:srgbClr val="000000"/>
                </a:solidFill>
                <a:latin typeface="Koho"/>
                <a:ea typeface="Koho"/>
                <a:cs typeface="Koho"/>
                <a:sym typeface="Koho"/>
              </a:rPr>
              <a:t>Key fields in Customer table: CustomerID, Customer Age, Customer Gender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709729" y="563782"/>
            <a:ext cx="14868542"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DATA CLEANING SUMMARY</a:t>
            </a:r>
          </a:p>
        </p:txBody>
      </p:sp>
      <p:sp>
        <p:nvSpPr>
          <p:cNvPr name="TextBox 14" id="14"/>
          <p:cNvSpPr txBox="true"/>
          <p:nvPr/>
        </p:nvSpPr>
        <p:spPr>
          <a:xfrm rot="0">
            <a:off x="1327505" y="2655165"/>
            <a:ext cx="15334507" cy="489902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Table fo</a:t>
            </a:r>
            <a:r>
              <a:rPr lang="en-US" sz="3999">
                <a:solidFill>
                  <a:srgbClr val="000000"/>
                </a:solidFill>
                <a:latin typeface="Koho"/>
                <a:ea typeface="Koho"/>
                <a:cs typeface="Koho"/>
                <a:sym typeface="Koho"/>
              </a:rPr>
              <a:t>rmat, one row per issue: </a:t>
            </a:r>
          </a:p>
          <a:p>
            <a:pPr algn="l">
              <a:lnSpc>
                <a:spcPts val="5599"/>
              </a:lnSpc>
            </a:pPr>
            <a:r>
              <a:rPr lang="en-US" sz="3999">
                <a:solidFill>
                  <a:srgbClr val="000000"/>
                </a:solidFill>
                <a:latin typeface="Koho"/>
                <a:ea typeface="Koho"/>
                <a:cs typeface="Koho"/>
                <a:sym typeface="Koho"/>
              </a:rPr>
              <a:t>Column | Issue | Action Taken</a:t>
            </a:r>
          </a:p>
          <a:p>
            <a:pPr algn="l" marL="863599" indent="-431800" lvl="1">
              <a:lnSpc>
                <a:spcPts val="5599"/>
              </a:lnSpc>
              <a:buFont typeface="Arial"/>
              <a:buChar char="•"/>
            </a:pPr>
            <a:r>
              <a:rPr lang="en-US" sz="3999">
                <a:solidFill>
                  <a:srgbClr val="000000"/>
                </a:solidFill>
                <a:latin typeface="Koho"/>
                <a:ea typeface="Koho"/>
                <a:cs typeface="Koho"/>
                <a:sym typeface="Koho"/>
              </a:rPr>
              <a:t>Removal of 5 empty columns and 199 empty rows</a:t>
            </a:r>
          </a:p>
          <a:p>
            <a:pPr algn="l" marL="863599" indent="-431800" lvl="1">
              <a:lnSpc>
                <a:spcPts val="5599"/>
              </a:lnSpc>
              <a:buFont typeface="Arial"/>
              <a:buChar char="•"/>
            </a:pPr>
            <a:r>
              <a:rPr lang="en-US" sz="3999">
                <a:solidFill>
                  <a:srgbClr val="000000"/>
                </a:solidFill>
                <a:latin typeface="Koho"/>
                <a:ea typeface="Koho"/>
                <a:cs typeface="Koho"/>
                <a:sym typeface="Koho"/>
              </a:rPr>
              <a:t>Included the corrupted Un</a:t>
            </a:r>
            <a:r>
              <a:rPr lang="en-US" sz="3999">
                <a:solidFill>
                  <a:srgbClr val="000000"/>
                </a:solidFill>
                <a:latin typeface="Koho"/>
                <a:ea typeface="Koho"/>
                <a:cs typeface="Koho"/>
                <a:sym typeface="Koho"/>
              </a:rPr>
              <a:t>it Price/Quantity rows removed, Reason nulls handled, Gender null fixed, data type corrections</a:t>
            </a:r>
          </a:p>
          <a:p>
            <a:pPr algn="l" marL="863599" indent="-431800" lvl="1">
              <a:lnSpc>
                <a:spcPts val="5599"/>
              </a:lnSpc>
              <a:buFont typeface="Arial"/>
              <a:buChar char="•"/>
            </a:pPr>
            <a:r>
              <a:rPr lang="en-US" sz="3999">
                <a:solidFill>
                  <a:srgbClr val="000000"/>
                </a:solidFill>
                <a:latin typeface="Koho"/>
                <a:ea typeface="Koho"/>
                <a:cs typeface="Koho"/>
                <a:sym typeface="Koho"/>
              </a:rPr>
              <a:t>One line in "0.007% of data removed, rest cleaned in place, there is no data loss to core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487536" y="2504348"/>
            <a:ext cx="10541981" cy="6066594"/>
          </a:xfrm>
          <a:custGeom>
            <a:avLst/>
            <a:gdLst/>
            <a:ahLst/>
            <a:cxnLst/>
            <a:rect r="r" b="b" t="t" l="l"/>
            <a:pathLst>
              <a:path h="6066594" w="10541981">
                <a:moveTo>
                  <a:pt x="0" y="0"/>
                </a:moveTo>
                <a:lnTo>
                  <a:pt x="10541981" y="0"/>
                </a:lnTo>
                <a:lnTo>
                  <a:pt x="10541981" y="6066593"/>
                </a:lnTo>
                <a:lnTo>
                  <a:pt x="0" y="6066593"/>
                </a:lnTo>
                <a:lnTo>
                  <a:pt x="0" y="0"/>
                </a:lnTo>
                <a:close/>
              </a:path>
            </a:pathLst>
          </a:custGeom>
          <a:blipFill>
            <a:blip r:embed="rId14"/>
            <a:stretch>
              <a:fillRect l="-1444" t="0" r="-1444" b="0"/>
            </a:stretch>
          </a:blipFill>
        </p:spPr>
      </p:sp>
      <p:sp>
        <p:nvSpPr>
          <p:cNvPr name="TextBox 14" id="14"/>
          <p:cNvSpPr txBox="true"/>
          <p:nvPr/>
        </p:nvSpPr>
        <p:spPr>
          <a:xfrm rot="0">
            <a:off x="1709729" y="563782"/>
            <a:ext cx="14868542"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DATA MODEL</a:t>
            </a:r>
          </a:p>
        </p:txBody>
      </p:sp>
      <p:sp>
        <p:nvSpPr>
          <p:cNvPr name="TextBox 15" id="15"/>
          <p:cNvSpPr txBox="true"/>
          <p:nvPr/>
        </p:nvSpPr>
        <p:spPr>
          <a:xfrm rot="0">
            <a:off x="11324956" y="2655165"/>
            <a:ext cx="5632495" cy="4194175"/>
          </a:xfrm>
          <a:prstGeom prst="rect">
            <a:avLst/>
          </a:prstGeom>
        </p:spPr>
        <p:txBody>
          <a:bodyPr anchor="t" rtlCol="false" tIns="0" lIns="0" bIns="0" rIns="0">
            <a:spAutoFit/>
          </a:bodyPr>
          <a:lstStyle/>
          <a:p>
            <a:pPr algn="l">
              <a:lnSpc>
                <a:spcPts val="5599"/>
              </a:lnSpc>
            </a:pPr>
            <a:r>
              <a:rPr lang="en-US" sz="3999">
                <a:solidFill>
                  <a:srgbClr val="000000"/>
                </a:solidFill>
                <a:latin typeface="Koho"/>
                <a:ea typeface="Koho"/>
                <a:cs typeface="Koho"/>
                <a:sym typeface="Koho"/>
              </a:rPr>
              <a:t>Star schema matters because it simplifies relationships, speeds up queries, and makes analytics easier to understand.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779483" y="2235070"/>
            <a:ext cx="9177520" cy="5433092"/>
          </a:xfrm>
          <a:custGeom>
            <a:avLst/>
            <a:gdLst/>
            <a:ahLst/>
            <a:cxnLst/>
            <a:rect r="r" b="b" t="t" l="l"/>
            <a:pathLst>
              <a:path h="5433092" w="9177520">
                <a:moveTo>
                  <a:pt x="0" y="0"/>
                </a:moveTo>
                <a:lnTo>
                  <a:pt x="9177521" y="0"/>
                </a:lnTo>
                <a:lnTo>
                  <a:pt x="9177521" y="5433092"/>
                </a:lnTo>
                <a:lnTo>
                  <a:pt x="0" y="5433092"/>
                </a:lnTo>
                <a:lnTo>
                  <a:pt x="0" y="0"/>
                </a:lnTo>
                <a:close/>
              </a:path>
            </a:pathLst>
          </a:custGeom>
          <a:blipFill>
            <a:blip r:embed="rId14"/>
            <a:stretch>
              <a:fillRect l="0" t="0" r="0" b="0"/>
            </a:stretch>
          </a:blipFill>
        </p:spPr>
      </p:sp>
      <p:sp>
        <p:nvSpPr>
          <p:cNvPr name="TextBox 14" id="14"/>
          <p:cNvSpPr txBox="true"/>
          <p:nvPr/>
        </p:nvSpPr>
        <p:spPr>
          <a:xfrm rot="0">
            <a:off x="487536" y="585080"/>
            <a:ext cx="17211348" cy="1402711"/>
          </a:xfrm>
          <a:prstGeom prst="rect">
            <a:avLst/>
          </a:prstGeom>
        </p:spPr>
        <p:txBody>
          <a:bodyPr anchor="t" rtlCol="false" tIns="0" lIns="0" bIns="0" rIns="0">
            <a:spAutoFit/>
          </a:bodyPr>
          <a:lstStyle/>
          <a:p>
            <a:pPr algn="ctr">
              <a:lnSpc>
                <a:spcPts val="11410"/>
              </a:lnSpc>
            </a:pPr>
            <a:r>
              <a:rPr lang="en-US" b="true" sz="8150">
                <a:solidFill>
                  <a:srgbClr val="E3A73A"/>
                </a:solidFill>
                <a:latin typeface="Aileron Bold"/>
                <a:ea typeface="Aileron Bold"/>
                <a:cs typeface="Aileron Bold"/>
                <a:sym typeface="Aileron Bold"/>
              </a:rPr>
              <a:t>REVENUE &amp; GROWTH OVERVIEW</a:t>
            </a:r>
          </a:p>
        </p:txBody>
      </p:sp>
      <p:sp>
        <p:nvSpPr>
          <p:cNvPr name="TextBox 15" id="15"/>
          <p:cNvSpPr txBox="true"/>
          <p:nvPr/>
        </p:nvSpPr>
        <p:spPr>
          <a:xfrm rot="0">
            <a:off x="10908323" y="3772021"/>
            <a:ext cx="6373929" cy="207962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Total Revenue: 107.24M</a:t>
            </a:r>
          </a:p>
          <a:p>
            <a:pPr algn="l" marL="863599" indent="-431800" lvl="1">
              <a:lnSpc>
                <a:spcPts val="5599"/>
              </a:lnSpc>
              <a:buFont typeface="Arial"/>
              <a:buChar char="•"/>
            </a:pPr>
            <a:r>
              <a:rPr lang="en-US" sz="3999">
                <a:solidFill>
                  <a:srgbClr val="000000"/>
                </a:solidFill>
                <a:latin typeface="Koho"/>
                <a:ea typeface="Koho"/>
                <a:cs typeface="Koho"/>
                <a:sym typeface="Koho"/>
              </a:rPr>
              <a:t>Total Orders: 113K </a:t>
            </a:r>
          </a:p>
          <a:p>
            <a:pPr algn="l" marL="863599" indent="-431800" lvl="1">
              <a:lnSpc>
                <a:spcPts val="5599"/>
              </a:lnSpc>
              <a:buFont typeface="Arial"/>
              <a:buChar char="•"/>
            </a:pPr>
            <a:r>
              <a:rPr lang="en-US" sz="3999">
                <a:solidFill>
                  <a:srgbClr val="000000"/>
                </a:solidFill>
                <a:latin typeface="Koho"/>
                <a:ea typeface="Koho"/>
                <a:cs typeface="Koho"/>
                <a:sym typeface="Koho"/>
              </a:rPr>
              <a:t>Total Customers: 113K </a:t>
            </a:r>
          </a:p>
        </p:txBody>
      </p:sp>
      <p:sp>
        <p:nvSpPr>
          <p:cNvPr name="TextBox 16" id="16"/>
          <p:cNvSpPr txBox="true"/>
          <p:nvPr/>
        </p:nvSpPr>
        <p:spPr>
          <a:xfrm rot="0">
            <a:off x="2634754" y="7883525"/>
            <a:ext cx="14027258" cy="13747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One key insight: growth was market-driven (2020 surge), not steady organic growth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437722" y="1966770"/>
            <a:ext cx="13421043" cy="4302557"/>
          </a:xfrm>
          <a:custGeom>
            <a:avLst/>
            <a:gdLst/>
            <a:ahLst/>
            <a:cxnLst/>
            <a:rect r="r" b="b" t="t" l="l"/>
            <a:pathLst>
              <a:path h="4302557" w="13421043">
                <a:moveTo>
                  <a:pt x="0" y="0"/>
                </a:moveTo>
                <a:lnTo>
                  <a:pt x="13421043" y="0"/>
                </a:lnTo>
                <a:lnTo>
                  <a:pt x="13421043" y="4302557"/>
                </a:lnTo>
                <a:lnTo>
                  <a:pt x="0" y="4302557"/>
                </a:lnTo>
                <a:lnTo>
                  <a:pt x="0" y="0"/>
                </a:lnTo>
                <a:close/>
              </a:path>
            </a:pathLst>
          </a:custGeom>
          <a:blipFill>
            <a:blip r:embed="rId14"/>
            <a:stretch>
              <a:fillRect l="0" t="0" r="0" b="0"/>
            </a:stretch>
          </a:blipFill>
        </p:spPr>
      </p:sp>
      <p:sp>
        <p:nvSpPr>
          <p:cNvPr name="TextBox 14" id="14"/>
          <p:cNvSpPr txBox="true"/>
          <p:nvPr/>
        </p:nvSpPr>
        <p:spPr>
          <a:xfrm rot="0">
            <a:off x="0" y="578270"/>
            <a:ext cx="18288000" cy="1295400"/>
          </a:xfrm>
          <a:prstGeom prst="rect">
            <a:avLst/>
          </a:prstGeom>
        </p:spPr>
        <p:txBody>
          <a:bodyPr anchor="t" rtlCol="false" tIns="0" lIns="0" bIns="0" rIns="0">
            <a:spAutoFit/>
          </a:bodyPr>
          <a:lstStyle/>
          <a:p>
            <a:pPr algn="ctr">
              <a:lnSpc>
                <a:spcPts val="10500"/>
              </a:lnSpc>
            </a:pPr>
            <a:r>
              <a:rPr lang="en-US" b="true" sz="7500">
                <a:solidFill>
                  <a:srgbClr val="E3A73A"/>
                </a:solidFill>
                <a:latin typeface="Aileron Bold"/>
                <a:ea typeface="Aileron Bold"/>
                <a:cs typeface="Aileron Bold"/>
                <a:sym typeface="Aileron Bold"/>
              </a:rPr>
              <a:t>PRODUCT &amp; CATEGORY PERFORMANCE</a:t>
            </a:r>
          </a:p>
        </p:txBody>
      </p:sp>
      <p:sp>
        <p:nvSpPr>
          <p:cNvPr name="TextBox 15" id="15"/>
          <p:cNvSpPr txBox="true"/>
          <p:nvPr/>
        </p:nvSpPr>
        <p:spPr>
          <a:xfrm rot="0">
            <a:off x="14095287" y="3250333"/>
            <a:ext cx="3882035" cy="2079625"/>
          </a:xfrm>
          <a:prstGeom prst="rect">
            <a:avLst/>
          </a:prstGeom>
        </p:spPr>
        <p:txBody>
          <a:bodyPr anchor="t" rtlCol="false" tIns="0" lIns="0" bIns="0" rIns="0">
            <a:spAutoFit/>
          </a:bodyPr>
          <a:lstStyle/>
          <a:p>
            <a:pPr algn="l">
              <a:lnSpc>
                <a:spcPts val="5599"/>
              </a:lnSpc>
            </a:pPr>
            <a:r>
              <a:rPr lang="en-US" sz="3999">
                <a:solidFill>
                  <a:srgbClr val="000000"/>
                </a:solidFill>
                <a:latin typeface="Koho"/>
                <a:ea typeface="Koho"/>
                <a:cs typeface="Koho"/>
                <a:sym typeface="Koho"/>
              </a:rPr>
              <a:t>Top 5 "core" products that repeat every year</a:t>
            </a:r>
          </a:p>
        </p:txBody>
      </p:sp>
      <p:sp>
        <p:nvSpPr>
          <p:cNvPr name="TextBox 16" id="16"/>
          <p:cNvSpPr txBox="true"/>
          <p:nvPr/>
        </p:nvSpPr>
        <p:spPr>
          <a:xfrm rot="0">
            <a:off x="1785986" y="6407657"/>
            <a:ext cx="14876027" cy="207962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Volume vs. Revenue inversion (Health &amp; Beauty highest volume, Phones/Tablet highest revenue)</a:t>
            </a:r>
          </a:p>
          <a:p>
            <a:pPr algn="l" marL="863599" indent="-431800" lvl="1">
              <a:lnSpc>
                <a:spcPts val="5599"/>
              </a:lnSpc>
              <a:buFont typeface="Arial"/>
              <a:buChar char="•"/>
            </a:pPr>
            <a:r>
              <a:rPr lang="en-US" sz="3999">
                <a:solidFill>
                  <a:srgbClr val="000000"/>
                </a:solidFill>
                <a:latin typeface="Koho"/>
                <a:ea typeface="Koho"/>
                <a:cs typeface="Koho"/>
                <a:sym typeface="Koho"/>
              </a:rPr>
              <a:t>Bottom 10 products and their ~3% revenue share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28700" y="1893986"/>
            <a:ext cx="8581149" cy="5586821"/>
          </a:xfrm>
          <a:custGeom>
            <a:avLst/>
            <a:gdLst/>
            <a:ahLst/>
            <a:cxnLst/>
            <a:rect r="r" b="b" t="t" l="l"/>
            <a:pathLst>
              <a:path h="5586821" w="8581149">
                <a:moveTo>
                  <a:pt x="0" y="0"/>
                </a:moveTo>
                <a:lnTo>
                  <a:pt x="8581149" y="0"/>
                </a:lnTo>
                <a:lnTo>
                  <a:pt x="8581149" y="5586821"/>
                </a:lnTo>
                <a:lnTo>
                  <a:pt x="0" y="5586821"/>
                </a:lnTo>
                <a:lnTo>
                  <a:pt x="0" y="0"/>
                </a:lnTo>
                <a:close/>
              </a:path>
            </a:pathLst>
          </a:custGeom>
          <a:blipFill>
            <a:blip r:embed="rId14"/>
            <a:stretch>
              <a:fillRect l="0" t="0" r="0" b="0"/>
            </a:stretch>
          </a:blipFill>
        </p:spPr>
      </p:sp>
      <p:sp>
        <p:nvSpPr>
          <p:cNvPr name="TextBox 14" id="14"/>
          <p:cNvSpPr txBox="true"/>
          <p:nvPr/>
        </p:nvSpPr>
        <p:spPr>
          <a:xfrm rot="0">
            <a:off x="0" y="578270"/>
            <a:ext cx="18288000" cy="1295400"/>
          </a:xfrm>
          <a:prstGeom prst="rect">
            <a:avLst/>
          </a:prstGeom>
        </p:spPr>
        <p:txBody>
          <a:bodyPr anchor="t" rtlCol="false" tIns="0" lIns="0" bIns="0" rIns="0">
            <a:spAutoFit/>
          </a:bodyPr>
          <a:lstStyle/>
          <a:p>
            <a:pPr algn="ctr">
              <a:lnSpc>
                <a:spcPts val="10500"/>
              </a:lnSpc>
            </a:pPr>
            <a:r>
              <a:rPr lang="en-US" b="true" sz="7500">
                <a:solidFill>
                  <a:srgbClr val="E3A73A"/>
                </a:solidFill>
                <a:latin typeface="Aileron Bold"/>
                <a:ea typeface="Aileron Bold"/>
                <a:cs typeface="Aileron Bold"/>
                <a:sym typeface="Aileron Bold"/>
              </a:rPr>
              <a:t>RETURNS &amp; RATINGS ANALYSIS</a:t>
            </a:r>
          </a:p>
        </p:txBody>
      </p:sp>
      <p:sp>
        <p:nvSpPr>
          <p:cNvPr name="TextBox 15" id="15"/>
          <p:cNvSpPr txBox="true"/>
          <p:nvPr/>
        </p:nvSpPr>
        <p:spPr>
          <a:xfrm rot="0">
            <a:off x="9609849" y="2655165"/>
            <a:ext cx="8483399" cy="41941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Return Rate: 27.01% </a:t>
            </a:r>
          </a:p>
          <a:p>
            <a:pPr algn="l">
              <a:lnSpc>
                <a:spcPts val="5599"/>
              </a:lnSpc>
            </a:pPr>
            <a:r>
              <a:rPr lang="en-US" sz="3999">
                <a:solidFill>
                  <a:srgbClr val="000000"/>
                </a:solidFill>
                <a:latin typeface="Koho"/>
                <a:ea typeface="Koho"/>
                <a:cs typeface="Koho"/>
                <a:sym typeface="Koho"/>
              </a:rPr>
              <a:t>A</a:t>
            </a:r>
            <a:r>
              <a:rPr lang="en-US" sz="3999">
                <a:solidFill>
                  <a:srgbClr val="000000"/>
                </a:solidFill>
                <a:latin typeface="Koho"/>
                <a:ea typeface="Koho"/>
                <a:cs typeface="Koho"/>
                <a:sym typeface="Koho"/>
              </a:rPr>
              <a:t> key stat, large and centered</a:t>
            </a:r>
          </a:p>
          <a:p>
            <a:pPr algn="l" marL="863599" indent="-431800" lvl="1">
              <a:lnSpc>
                <a:spcPts val="5599"/>
              </a:lnSpc>
              <a:buFont typeface="Arial"/>
              <a:buChar char="•"/>
            </a:pPr>
            <a:r>
              <a:rPr lang="en-US" sz="3999">
                <a:solidFill>
                  <a:srgbClr val="000000"/>
                </a:solidFill>
                <a:latin typeface="Koho"/>
                <a:ea typeface="Koho"/>
                <a:cs typeface="Koho"/>
                <a:sym typeface="Koho"/>
              </a:rPr>
              <a:t>Return reasons split,</a:t>
            </a:r>
          </a:p>
          <a:p>
            <a:pPr algn="l">
              <a:lnSpc>
                <a:spcPts val="5599"/>
              </a:lnSpc>
            </a:pPr>
            <a:r>
              <a:rPr lang="en-US" sz="3999">
                <a:solidFill>
                  <a:srgbClr val="000000"/>
                </a:solidFill>
                <a:latin typeface="Koho"/>
                <a:ea typeface="Koho"/>
                <a:cs typeface="Koho"/>
                <a:sym typeface="Koho"/>
              </a:rPr>
              <a:t>F</a:t>
            </a:r>
            <a:r>
              <a:rPr lang="en-US" sz="3999">
                <a:solidFill>
                  <a:srgbClr val="000000"/>
                </a:solidFill>
                <a:latin typeface="Koho"/>
                <a:ea typeface="Koho"/>
                <a:cs typeface="Koho"/>
                <a:sym typeface="Koho"/>
              </a:rPr>
              <a:t>ulfillment errors (~39%)</a:t>
            </a:r>
          </a:p>
          <a:p>
            <a:pPr algn="l">
              <a:lnSpc>
                <a:spcPts val="5599"/>
              </a:lnSpc>
            </a:pPr>
            <a:r>
              <a:rPr lang="en-US" sz="3999">
                <a:solidFill>
                  <a:srgbClr val="000000"/>
                </a:solidFill>
                <a:latin typeface="Koho"/>
                <a:ea typeface="Koho"/>
                <a:cs typeface="Koho"/>
                <a:sym typeface="Koho"/>
              </a:rPr>
              <a:t>Product/listing issues (~58%)</a:t>
            </a:r>
          </a:p>
          <a:p>
            <a:pPr algn="l">
              <a:lnSpc>
                <a:spcPts val="5599"/>
              </a:lnSpc>
            </a:pPr>
          </a:p>
        </p:txBody>
      </p:sp>
      <p:sp>
        <p:nvSpPr>
          <p:cNvPr name="TextBox 16" id="16"/>
          <p:cNvSpPr txBox="true"/>
          <p:nvPr/>
        </p:nvSpPr>
        <p:spPr>
          <a:xfrm rot="0">
            <a:off x="2634754" y="7767069"/>
            <a:ext cx="14027258" cy="13747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Key finding: Rating is driven by return status, not delivery time, shipping type, or price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590185" y="2235070"/>
            <a:ext cx="10439332" cy="4702868"/>
          </a:xfrm>
          <a:custGeom>
            <a:avLst/>
            <a:gdLst/>
            <a:ahLst/>
            <a:cxnLst/>
            <a:rect r="r" b="b" t="t" l="l"/>
            <a:pathLst>
              <a:path h="4702868" w="10439332">
                <a:moveTo>
                  <a:pt x="0" y="0"/>
                </a:moveTo>
                <a:lnTo>
                  <a:pt x="10439332" y="0"/>
                </a:lnTo>
                <a:lnTo>
                  <a:pt x="10439332" y="4702868"/>
                </a:lnTo>
                <a:lnTo>
                  <a:pt x="0" y="4702868"/>
                </a:lnTo>
                <a:lnTo>
                  <a:pt x="0" y="0"/>
                </a:lnTo>
                <a:close/>
              </a:path>
            </a:pathLst>
          </a:custGeom>
          <a:blipFill>
            <a:blip r:embed="rId14"/>
            <a:stretch>
              <a:fillRect l="0" t="0" r="0" b="0"/>
            </a:stretch>
          </a:blipFill>
        </p:spPr>
      </p:sp>
      <p:sp>
        <p:nvSpPr>
          <p:cNvPr name="TextBox 14" id="14"/>
          <p:cNvSpPr txBox="true"/>
          <p:nvPr/>
        </p:nvSpPr>
        <p:spPr>
          <a:xfrm rot="0">
            <a:off x="0" y="578270"/>
            <a:ext cx="18288000" cy="1295400"/>
          </a:xfrm>
          <a:prstGeom prst="rect">
            <a:avLst/>
          </a:prstGeom>
        </p:spPr>
        <p:txBody>
          <a:bodyPr anchor="t" rtlCol="false" tIns="0" lIns="0" bIns="0" rIns="0">
            <a:spAutoFit/>
          </a:bodyPr>
          <a:lstStyle/>
          <a:p>
            <a:pPr algn="ctr">
              <a:lnSpc>
                <a:spcPts val="10500"/>
              </a:lnSpc>
            </a:pPr>
            <a:r>
              <a:rPr lang="en-US" b="true" sz="7500">
                <a:solidFill>
                  <a:srgbClr val="E3A73A"/>
                </a:solidFill>
                <a:latin typeface="Aileron Bold"/>
                <a:ea typeface="Aileron Bold"/>
                <a:cs typeface="Aileron Bold"/>
                <a:sym typeface="Aileron Bold"/>
              </a:rPr>
              <a:t>DELIVERY &amp; LOGISTICS INSIGHTS</a:t>
            </a:r>
          </a:p>
        </p:txBody>
      </p:sp>
      <p:sp>
        <p:nvSpPr>
          <p:cNvPr name="TextBox 15" id="15"/>
          <p:cNvSpPr txBox="true"/>
          <p:nvPr/>
        </p:nvSpPr>
        <p:spPr>
          <a:xfrm rot="0">
            <a:off x="11249814" y="2565610"/>
            <a:ext cx="6541942" cy="4194175"/>
          </a:xfrm>
          <a:prstGeom prst="rect">
            <a:avLst/>
          </a:prstGeom>
        </p:spPr>
        <p:txBody>
          <a:bodyPr anchor="t" rtlCol="false" tIns="0" lIns="0" bIns="0" rIns="0">
            <a:spAutoFit/>
          </a:bodyPr>
          <a:lstStyle/>
          <a:p>
            <a:pPr algn="l">
              <a:lnSpc>
                <a:spcPts val="5599"/>
              </a:lnSpc>
            </a:pPr>
            <a:r>
              <a:rPr lang="en-US" sz="3999">
                <a:solidFill>
                  <a:srgbClr val="000000"/>
                </a:solidFill>
                <a:latin typeface="Koho"/>
                <a:ea typeface="Koho"/>
                <a:cs typeface="Koho"/>
                <a:sym typeface="Koho"/>
              </a:rPr>
              <a:t>Deliv</a:t>
            </a:r>
            <a:r>
              <a:rPr lang="en-US" sz="3999">
                <a:solidFill>
                  <a:srgbClr val="000000"/>
                </a:solidFill>
                <a:latin typeface="Koho"/>
                <a:ea typeface="Koho"/>
                <a:cs typeface="Koho"/>
                <a:sym typeface="Koho"/>
              </a:rPr>
              <a:t>ery Type drives wait tim</a:t>
            </a:r>
            <a:r>
              <a:rPr lang="en-US" sz="3999">
                <a:solidFill>
                  <a:srgbClr val="000000"/>
                </a:solidFill>
                <a:latin typeface="Koho"/>
                <a:ea typeface="Koho"/>
                <a:cs typeface="Koho"/>
                <a:sym typeface="Koho"/>
              </a:rPr>
              <a:t>e as,</a:t>
            </a:r>
          </a:p>
          <a:p>
            <a:pPr algn="l">
              <a:lnSpc>
                <a:spcPts val="5599"/>
              </a:lnSpc>
            </a:pPr>
            <a:r>
              <a:rPr lang="en-US" sz="3999">
                <a:solidFill>
                  <a:srgbClr val="000000"/>
                </a:solidFill>
                <a:latin typeface="Koho"/>
                <a:ea typeface="Koho"/>
                <a:cs typeface="Koho"/>
                <a:sym typeface="Koho"/>
              </a:rPr>
              <a:t>     </a:t>
            </a:r>
            <a:r>
              <a:rPr lang="en-US" sz="3999">
                <a:solidFill>
                  <a:srgbClr val="000000"/>
                </a:solidFill>
                <a:latin typeface="Koho"/>
                <a:ea typeface="Koho"/>
                <a:cs typeface="Koho"/>
                <a:sym typeface="Koho"/>
              </a:rPr>
              <a:t>Express 3.5 days</a:t>
            </a:r>
          </a:p>
          <a:p>
            <a:pPr algn="l">
              <a:lnSpc>
                <a:spcPts val="5599"/>
              </a:lnSpc>
            </a:pPr>
            <a:r>
              <a:rPr lang="en-US" sz="3999">
                <a:solidFill>
                  <a:srgbClr val="000000"/>
                </a:solidFill>
                <a:latin typeface="Koho"/>
                <a:ea typeface="Koho"/>
                <a:cs typeface="Koho"/>
                <a:sym typeface="Koho"/>
              </a:rPr>
              <a:t>     Standard delivery 10 days</a:t>
            </a:r>
          </a:p>
          <a:p>
            <a:pPr algn="l">
              <a:lnSpc>
                <a:spcPts val="5599"/>
              </a:lnSpc>
            </a:pPr>
            <a:r>
              <a:rPr lang="en-US" sz="3999">
                <a:solidFill>
                  <a:srgbClr val="000000"/>
                </a:solidFill>
                <a:latin typeface="Koho"/>
                <a:ea typeface="Koho"/>
                <a:cs typeface="Koho"/>
                <a:sym typeface="Koho"/>
              </a:rPr>
              <a:t>    </a:t>
            </a:r>
            <a:r>
              <a:rPr lang="en-US" sz="3999">
                <a:solidFill>
                  <a:srgbClr val="000000"/>
                </a:solidFill>
                <a:latin typeface="Koho"/>
                <a:ea typeface="Koho"/>
                <a:cs typeface="Koho"/>
                <a:sym typeface="Koho"/>
              </a:rPr>
              <a:t> Ab</a:t>
            </a:r>
            <a:r>
              <a:rPr lang="en-US" sz="3999">
                <a:solidFill>
                  <a:srgbClr val="000000"/>
                </a:solidFill>
                <a:latin typeface="Koho"/>
                <a:ea typeface="Koho"/>
                <a:cs typeface="Koho"/>
                <a:sym typeface="Koho"/>
              </a:rPr>
              <a:t>road 15 days</a:t>
            </a:r>
          </a:p>
          <a:p>
            <a:pPr algn="l">
              <a:lnSpc>
                <a:spcPts val="5599"/>
              </a:lnSpc>
            </a:pPr>
            <a:r>
              <a:rPr lang="en-US" sz="3999">
                <a:solidFill>
                  <a:srgbClr val="000000"/>
                </a:solidFill>
                <a:latin typeface="Koho"/>
                <a:ea typeface="Koho"/>
                <a:cs typeface="Koho"/>
                <a:sym typeface="Koho"/>
              </a:rPr>
              <a:t>Where,</a:t>
            </a:r>
            <a:r>
              <a:rPr lang="en-US" sz="3999">
                <a:solidFill>
                  <a:srgbClr val="000000"/>
                </a:solidFill>
                <a:latin typeface="Koho"/>
                <a:ea typeface="Koho"/>
                <a:cs typeface="Koho"/>
                <a:sym typeface="Koho"/>
              </a:rPr>
              <a:t> Category does not</a:t>
            </a:r>
          </a:p>
        </p:txBody>
      </p:sp>
      <p:sp>
        <p:nvSpPr>
          <p:cNvPr name="TextBox 16" id="16"/>
          <p:cNvSpPr txBox="true"/>
          <p:nvPr/>
        </p:nvSpPr>
        <p:spPr>
          <a:xfrm rot="0">
            <a:off x="2634754" y="7470775"/>
            <a:ext cx="12536382" cy="13747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Shipping Fee has no relationship to category, price, or delivery type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451890" y="1983197"/>
            <a:ext cx="8314404" cy="7275103"/>
          </a:xfrm>
          <a:custGeom>
            <a:avLst/>
            <a:gdLst/>
            <a:ahLst/>
            <a:cxnLst/>
            <a:rect r="r" b="b" t="t" l="l"/>
            <a:pathLst>
              <a:path h="7275103" w="8314404">
                <a:moveTo>
                  <a:pt x="0" y="0"/>
                </a:moveTo>
                <a:lnTo>
                  <a:pt x="8314404" y="0"/>
                </a:lnTo>
                <a:lnTo>
                  <a:pt x="8314404" y="7275103"/>
                </a:lnTo>
                <a:lnTo>
                  <a:pt x="0" y="7275103"/>
                </a:lnTo>
                <a:lnTo>
                  <a:pt x="0" y="0"/>
                </a:lnTo>
                <a:close/>
              </a:path>
            </a:pathLst>
          </a:custGeom>
          <a:blipFill>
            <a:blip r:embed="rId14"/>
            <a:stretch>
              <a:fillRect l="0" t="0" r="0" b="0"/>
            </a:stretch>
          </a:blipFill>
        </p:spPr>
      </p:sp>
      <p:sp>
        <p:nvSpPr>
          <p:cNvPr name="TextBox 14" id="14"/>
          <p:cNvSpPr txBox="true"/>
          <p:nvPr/>
        </p:nvSpPr>
        <p:spPr>
          <a:xfrm rot="0">
            <a:off x="0" y="597320"/>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CUSTOMER &amp; REVENUE CONCENTRATION</a:t>
            </a:r>
          </a:p>
        </p:txBody>
      </p:sp>
      <p:sp>
        <p:nvSpPr>
          <p:cNvPr name="TextBox 15" id="15"/>
          <p:cNvSpPr txBox="true"/>
          <p:nvPr/>
        </p:nvSpPr>
        <p:spPr>
          <a:xfrm rot="0">
            <a:off x="8918871" y="2847108"/>
            <a:ext cx="8340429" cy="56038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18.6% of customers generate 67% of revenue </a:t>
            </a:r>
          </a:p>
          <a:p>
            <a:pPr algn="l" marL="863599" indent="-431800" lvl="1">
              <a:lnSpc>
                <a:spcPts val="5599"/>
              </a:lnSpc>
              <a:buFont typeface="Arial"/>
              <a:buChar char="•"/>
            </a:pPr>
            <a:r>
              <a:rPr lang="en-US" sz="3999">
                <a:solidFill>
                  <a:srgbClr val="000000"/>
                </a:solidFill>
                <a:latin typeface="Koho"/>
                <a:ea typeface="Koho"/>
                <a:cs typeface="Koho"/>
                <a:sym typeface="Koho"/>
              </a:rPr>
              <a:t>Age 26-45 drives ~62% of revenue</a:t>
            </a:r>
          </a:p>
          <a:p>
            <a:pPr algn="l" marL="863599" indent="-431800" lvl="1">
              <a:lnSpc>
                <a:spcPts val="5599"/>
              </a:lnSpc>
              <a:buFont typeface="Arial"/>
              <a:buChar char="•"/>
            </a:pPr>
            <a:r>
              <a:rPr lang="en-US" sz="3999">
                <a:solidFill>
                  <a:srgbClr val="000000"/>
                </a:solidFill>
                <a:latin typeface="Koho"/>
                <a:ea typeface="Koho"/>
                <a:cs typeface="Koho"/>
                <a:sym typeface="Koho"/>
              </a:rPr>
              <a:t>One key limitation to state honestly, every customer has exactly 1 order  no repeat-purchase data available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388880" y="1949042"/>
            <a:ext cx="10640637" cy="5451793"/>
          </a:xfrm>
          <a:custGeom>
            <a:avLst/>
            <a:gdLst/>
            <a:ahLst/>
            <a:cxnLst/>
            <a:rect r="r" b="b" t="t" l="l"/>
            <a:pathLst>
              <a:path h="5451793" w="10640637">
                <a:moveTo>
                  <a:pt x="0" y="0"/>
                </a:moveTo>
                <a:lnTo>
                  <a:pt x="10640637" y="0"/>
                </a:lnTo>
                <a:lnTo>
                  <a:pt x="10640637" y="5451793"/>
                </a:lnTo>
                <a:lnTo>
                  <a:pt x="0" y="5451793"/>
                </a:lnTo>
                <a:lnTo>
                  <a:pt x="0" y="0"/>
                </a:lnTo>
                <a:close/>
              </a:path>
            </a:pathLst>
          </a:custGeom>
          <a:blipFill>
            <a:blip r:embed="rId14"/>
            <a:stretch>
              <a:fillRect l="0" t="0" r="0" b="0"/>
            </a:stretch>
          </a:blipFill>
        </p:spPr>
      </p:sp>
      <p:sp>
        <p:nvSpPr>
          <p:cNvPr name="TextBox 14" id="14"/>
          <p:cNvSpPr txBox="true"/>
          <p:nvPr/>
        </p:nvSpPr>
        <p:spPr>
          <a:xfrm rot="0">
            <a:off x="0" y="597320"/>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PROPOSED LOYALTY PROGRAM</a:t>
            </a:r>
          </a:p>
        </p:txBody>
      </p:sp>
      <p:sp>
        <p:nvSpPr>
          <p:cNvPr name="TextBox 15" id="15"/>
          <p:cNvSpPr txBox="true"/>
          <p:nvPr/>
        </p:nvSpPr>
        <p:spPr>
          <a:xfrm rot="0">
            <a:off x="11260877" y="3032472"/>
            <a:ext cx="6466184" cy="3489325"/>
          </a:xfrm>
          <a:prstGeom prst="rect">
            <a:avLst/>
          </a:prstGeom>
        </p:spPr>
        <p:txBody>
          <a:bodyPr anchor="t" rtlCol="false" tIns="0" lIns="0" bIns="0" rIns="0">
            <a:spAutoFit/>
          </a:bodyPr>
          <a:lstStyle/>
          <a:p>
            <a:pPr algn="l">
              <a:lnSpc>
                <a:spcPts val="5599"/>
              </a:lnSpc>
            </a:pPr>
            <a:r>
              <a:rPr lang="en-US" sz="3999">
                <a:solidFill>
                  <a:srgbClr val="000000"/>
                </a:solidFill>
                <a:latin typeface="Koho"/>
                <a:ea typeface="Koho"/>
                <a:cs typeface="Koho"/>
                <a:sym typeface="Koho"/>
              </a:rPr>
              <a:t>Tier breakdown,</a:t>
            </a:r>
          </a:p>
          <a:p>
            <a:pPr algn="l">
              <a:lnSpc>
                <a:spcPts val="5599"/>
              </a:lnSpc>
            </a:pPr>
            <a:r>
              <a:rPr lang="en-US" sz="3999">
                <a:solidFill>
                  <a:srgbClr val="000000"/>
                </a:solidFill>
                <a:latin typeface="Koho"/>
                <a:ea typeface="Koho"/>
                <a:cs typeface="Koho"/>
                <a:sym typeface="Koho"/>
              </a:rPr>
              <a:t>      </a:t>
            </a:r>
            <a:r>
              <a:rPr lang="en-US" sz="3999">
                <a:solidFill>
                  <a:srgbClr val="000000"/>
                </a:solidFill>
                <a:latin typeface="Koho"/>
                <a:ea typeface="Koho"/>
                <a:cs typeface="Koho"/>
                <a:sym typeface="Koho"/>
              </a:rPr>
              <a:t>Platinum for 5000 &lt;</a:t>
            </a:r>
          </a:p>
          <a:p>
            <a:pPr algn="l">
              <a:lnSpc>
                <a:spcPts val="5599"/>
              </a:lnSpc>
            </a:pPr>
            <a:r>
              <a:rPr lang="en-US" sz="3999">
                <a:solidFill>
                  <a:srgbClr val="000000"/>
                </a:solidFill>
                <a:latin typeface="Koho"/>
                <a:ea typeface="Koho"/>
                <a:cs typeface="Koho"/>
                <a:sym typeface="Koho"/>
              </a:rPr>
              <a:t>      Gold for 1500 - 5000</a:t>
            </a:r>
          </a:p>
          <a:p>
            <a:pPr algn="l">
              <a:lnSpc>
                <a:spcPts val="5599"/>
              </a:lnSpc>
            </a:pPr>
            <a:r>
              <a:rPr lang="en-US" sz="3999">
                <a:solidFill>
                  <a:srgbClr val="000000"/>
                </a:solidFill>
                <a:latin typeface="Koho"/>
                <a:ea typeface="Koho"/>
                <a:cs typeface="Koho"/>
                <a:sym typeface="Koho"/>
              </a:rPr>
              <a:t>      Silver for 600 - 1500</a:t>
            </a:r>
          </a:p>
          <a:p>
            <a:pPr algn="l">
              <a:lnSpc>
                <a:spcPts val="5599"/>
              </a:lnSpc>
            </a:pPr>
            <a:r>
              <a:rPr lang="en-US" sz="3999">
                <a:solidFill>
                  <a:srgbClr val="000000"/>
                </a:solidFill>
                <a:latin typeface="Koho"/>
                <a:ea typeface="Koho"/>
                <a:cs typeface="Koho"/>
                <a:sym typeface="Koho"/>
              </a:rPr>
              <a:t>      Bronze for &lt;600</a:t>
            </a:r>
          </a:p>
        </p:txBody>
      </p:sp>
      <p:sp>
        <p:nvSpPr>
          <p:cNvPr name="TextBox 16" id="16"/>
          <p:cNvSpPr txBox="true"/>
          <p:nvPr/>
        </p:nvSpPr>
        <p:spPr>
          <a:xfrm rot="0">
            <a:off x="2634754" y="7613032"/>
            <a:ext cx="11460534" cy="13747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34K customers fits in the 0-200 bucket, while only ~1K reach ₹7,000+.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1468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5433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563821" y="1649351"/>
            <a:ext cx="7180851" cy="8637649"/>
          </a:xfrm>
          <a:custGeom>
            <a:avLst/>
            <a:gdLst/>
            <a:ahLst/>
            <a:cxnLst/>
            <a:rect r="r" b="b" t="t" l="l"/>
            <a:pathLst>
              <a:path h="8637649" w="7180851">
                <a:moveTo>
                  <a:pt x="0" y="0"/>
                </a:moveTo>
                <a:lnTo>
                  <a:pt x="7180852" y="0"/>
                </a:lnTo>
                <a:lnTo>
                  <a:pt x="7180852" y="8637649"/>
                </a:lnTo>
                <a:lnTo>
                  <a:pt x="0" y="8637649"/>
                </a:lnTo>
                <a:lnTo>
                  <a:pt x="0" y="0"/>
                </a:lnTo>
                <a:close/>
              </a:path>
            </a:pathLst>
          </a:custGeom>
          <a:blipFill>
            <a:blip r:embed="rId14"/>
            <a:stretch>
              <a:fillRect l="0" t="0" r="0" b="0"/>
            </a:stretch>
          </a:blipFill>
        </p:spPr>
      </p:sp>
      <p:sp>
        <p:nvSpPr>
          <p:cNvPr name="TextBox 14" id="14"/>
          <p:cNvSpPr txBox="true"/>
          <p:nvPr/>
        </p:nvSpPr>
        <p:spPr>
          <a:xfrm rot="0">
            <a:off x="0" y="597320"/>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LOCATION BASED ANALYSIS</a:t>
            </a:r>
          </a:p>
        </p:txBody>
      </p:sp>
      <p:sp>
        <p:nvSpPr>
          <p:cNvPr name="TextBox 15" id="15"/>
          <p:cNvSpPr txBox="true"/>
          <p:nvPr/>
        </p:nvSpPr>
        <p:spPr>
          <a:xfrm rot="0">
            <a:off x="8108957" y="3101910"/>
            <a:ext cx="7680764" cy="56038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Average Order Value ranges dramatically across Ghana's 26 locations, from ₹458 in Central down to just ₹48 in Bono East,</a:t>
            </a:r>
          </a:p>
          <a:p>
            <a:pPr algn="l" marL="863599" indent="-431800" lvl="1">
              <a:lnSpc>
                <a:spcPts val="5599"/>
              </a:lnSpc>
              <a:buFont typeface="Arial"/>
              <a:buChar char="•"/>
            </a:pPr>
            <a:r>
              <a:rPr lang="en-US" sz="3999">
                <a:solidFill>
                  <a:srgbClr val="000000"/>
                </a:solidFill>
                <a:latin typeface="Koho"/>
                <a:ea typeface="Koho"/>
                <a:cs typeface="Koho"/>
                <a:sym typeface="Koho"/>
              </a:rPr>
              <a:t>Nearly a 10x gap between the highest and lowest performing regions.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1468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5433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83866" y="1791120"/>
            <a:ext cx="11313583" cy="7467180"/>
          </a:xfrm>
          <a:custGeom>
            <a:avLst/>
            <a:gdLst/>
            <a:ahLst/>
            <a:cxnLst/>
            <a:rect r="r" b="b" t="t" l="l"/>
            <a:pathLst>
              <a:path h="7467180" w="11313583">
                <a:moveTo>
                  <a:pt x="0" y="0"/>
                </a:moveTo>
                <a:lnTo>
                  <a:pt x="11313583" y="0"/>
                </a:lnTo>
                <a:lnTo>
                  <a:pt x="11313583" y="7467180"/>
                </a:lnTo>
                <a:lnTo>
                  <a:pt x="0" y="7467180"/>
                </a:lnTo>
                <a:lnTo>
                  <a:pt x="0" y="0"/>
                </a:lnTo>
                <a:close/>
              </a:path>
            </a:pathLst>
          </a:custGeom>
          <a:blipFill>
            <a:blip r:embed="rId14"/>
            <a:stretch>
              <a:fillRect l="0" t="0" r="0" b="0"/>
            </a:stretch>
          </a:blipFill>
        </p:spPr>
      </p:sp>
      <p:sp>
        <p:nvSpPr>
          <p:cNvPr name="TextBox 14" id="14"/>
          <p:cNvSpPr txBox="true"/>
          <p:nvPr/>
        </p:nvSpPr>
        <p:spPr>
          <a:xfrm rot="0">
            <a:off x="0" y="597320"/>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DISCOUNT STRATEGY</a:t>
            </a:r>
          </a:p>
        </p:txBody>
      </p:sp>
      <p:sp>
        <p:nvSpPr>
          <p:cNvPr name="TextBox 15" id="15"/>
          <p:cNvSpPr txBox="true"/>
          <p:nvPr/>
        </p:nvSpPr>
        <p:spPr>
          <a:xfrm rot="0">
            <a:off x="11621274" y="2139820"/>
            <a:ext cx="5638026" cy="701357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The products with status “Healthy” are capable of providing the discounts</a:t>
            </a:r>
          </a:p>
          <a:p>
            <a:pPr algn="l" marL="863599" indent="-431800" lvl="1">
              <a:lnSpc>
                <a:spcPts val="5599"/>
              </a:lnSpc>
              <a:buFont typeface="Arial"/>
              <a:buChar char="•"/>
            </a:pPr>
            <a:r>
              <a:rPr lang="en-US" sz="3999">
                <a:solidFill>
                  <a:srgbClr val="000000"/>
                </a:solidFill>
                <a:latin typeface="Koho"/>
                <a:ea typeface="Koho"/>
                <a:cs typeface="Koho"/>
                <a:sym typeface="Koho"/>
              </a:rPr>
              <a:t>The products with status “Needs Review”, because their Return Rate exceeds the Avg Return Rate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1468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5433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28700" y="1028700"/>
            <a:ext cx="16230600" cy="9099496"/>
          </a:xfrm>
          <a:custGeom>
            <a:avLst/>
            <a:gdLst/>
            <a:ahLst/>
            <a:cxnLst/>
            <a:rect r="r" b="b" t="t" l="l"/>
            <a:pathLst>
              <a:path h="9099496" w="16230600">
                <a:moveTo>
                  <a:pt x="0" y="0"/>
                </a:moveTo>
                <a:lnTo>
                  <a:pt x="16230600" y="0"/>
                </a:lnTo>
                <a:lnTo>
                  <a:pt x="16230600" y="9099496"/>
                </a:lnTo>
                <a:lnTo>
                  <a:pt x="0" y="9099496"/>
                </a:lnTo>
                <a:lnTo>
                  <a:pt x="0" y="0"/>
                </a:lnTo>
                <a:close/>
              </a:path>
            </a:pathLst>
          </a:custGeom>
          <a:blipFill>
            <a:blip r:embed="rId14"/>
            <a:stretch>
              <a:fillRect l="0" t="0" r="0" b="0"/>
            </a:stretch>
          </a:blipFill>
        </p:spPr>
      </p:sp>
      <p:sp>
        <p:nvSpPr>
          <p:cNvPr name="TextBox 14" id="14"/>
          <p:cNvSpPr txBox="true"/>
          <p:nvPr/>
        </p:nvSpPr>
        <p:spPr>
          <a:xfrm rot="0">
            <a:off x="0" y="-158115"/>
            <a:ext cx="18288000" cy="1186815"/>
          </a:xfrm>
          <a:prstGeom prst="rect">
            <a:avLst/>
          </a:prstGeom>
        </p:spPr>
        <p:txBody>
          <a:bodyPr anchor="t" rtlCol="false" tIns="0" lIns="0" bIns="0" rIns="0">
            <a:spAutoFit/>
          </a:bodyPr>
          <a:lstStyle/>
          <a:p>
            <a:pPr algn="ctr">
              <a:lnSpc>
                <a:spcPts val="9660"/>
              </a:lnSpc>
            </a:pPr>
            <a:r>
              <a:rPr lang="en-US" b="true" sz="6900">
                <a:solidFill>
                  <a:srgbClr val="E3A73A"/>
                </a:solidFill>
                <a:latin typeface="Aileron Bold"/>
                <a:ea typeface="Aileron Bold"/>
                <a:cs typeface="Aileron Bold"/>
                <a:sym typeface="Aileron Bold"/>
              </a:rPr>
              <a:t>DASHBOARD WALKTHROUGH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1468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5433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06817" y="1028700"/>
            <a:ext cx="16252483" cy="9094475"/>
          </a:xfrm>
          <a:custGeom>
            <a:avLst/>
            <a:gdLst/>
            <a:ahLst/>
            <a:cxnLst/>
            <a:rect r="r" b="b" t="t" l="l"/>
            <a:pathLst>
              <a:path h="9094475" w="16252483">
                <a:moveTo>
                  <a:pt x="0" y="0"/>
                </a:moveTo>
                <a:lnTo>
                  <a:pt x="16252483" y="0"/>
                </a:lnTo>
                <a:lnTo>
                  <a:pt x="16252483" y="9094475"/>
                </a:lnTo>
                <a:lnTo>
                  <a:pt x="0" y="9094475"/>
                </a:lnTo>
                <a:lnTo>
                  <a:pt x="0" y="0"/>
                </a:lnTo>
                <a:close/>
              </a:path>
            </a:pathLst>
          </a:custGeom>
          <a:blipFill>
            <a:blip r:embed="rId14"/>
            <a:stretch>
              <a:fillRect l="0" t="0" r="0" b="0"/>
            </a:stretch>
          </a:blipFill>
        </p:spPr>
      </p:sp>
      <p:sp>
        <p:nvSpPr>
          <p:cNvPr name="TextBox 14" id="14"/>
          <p:cNvSpPr txBox="true"/>
          <p:nvPr/>
        </p:nvSpPr>
        <p:spPr>
          <a:xfrm rot="0">
            <a:off x="0" y="-158115"/>
            <a:ext cx="18288000" cy="1186815"/>
          </a:xfrm>
          <a:prstGeom prst="rect">
            <a:avLst/>
          </a:prstGeom>
        </p:spPr>
        <p:txBody>
          <a:bodyPr anchor="t" rtlCol="false" tIns="0" lIns="0" bIns="0" rIns="0">
            <a:spAutoFit/>
          </a:bodyPr>
          <a:lstStyle/>
          <a:p>
            <a:pPr algn="ctr">
              <a:lnSpc>
                <a:spcPts val="9660"/>
              </a:lnSpc>
            </a:pPr>
            <a:r>
              <a:rPr lang="en-US" b="true" sz="6900">
                <a:solidFill>
                  <a:srgbClr val="E3A73A"/>
                </a:solidFill>
                <a:latin typeface="Aileron Bold"/>
                <a:ea typeface="Aileron Bold"/>
                <a:cs typeface="Aileron Bold"/>
                <a:sym typeface="Aileron Bold"/>
              </a:rPr>
              <a:t>DASHBOARD WALKTHROUGH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1468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5433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28700" y="1028700"/>
            <a:ext cx="16230600" cy="9099496"/>
          </a:xfrm>
          <a:custGeom>
            <a:avLst/>
            <a:gdLst/>
            <a:ahLst/>
            <a:cxnLst/>
            <a:rect r="r" b="b" t="t" l="l"/>
            <a:pathLst>
              <a:path h="9099496" w="16230600">
                <a:moveTo>
                  <a:pt x="0" y="0"/>
                </a:moveTo>
                <a:lnTo>
                  <a:pt x="16230600" y="0"/>
                </a:lnTo>
                <a:lnTo>
                  <a:pt x="16230600" y="9099496"/>
                </a:lnTo>
                <a:lnTo>
                  <a:pt x="0" y="9099496"/>
                </a:lnTo>
                <a:lnTo>
                  <a:pt x="0" y="0"/>
                </a:lnTo>
                <a:close/>
              </a:path>
            </a:pathLst>
          </a:custGeom>
          <a:blipFill>
            <a:blip r:embed="rId14"/>
            <a:stretch>
              <a:fillRect l="0" t="0" r="0" b="0"/>
            </a:stretch>
          </a:blipFill>
        </p:spPr>
      </p:sp>
      <p:sp>
        <p:nvSpPr>
          <p:cNvPr name="TextBox 14" id="14"/>
          <p:cNvSpPr txBox="true"/>
          <p:nvPr/>
        </p:nvSpPr>
        <p:spPr>
          <a:xfrm rot="0">
            <a:off x="0" y="-158115"/>
            <a:ext cx="18288000" cy="1186815"/>
          </a:xfrm>
          <a:prstGeom prst="rect">
            <a:avLst/>
          </a:prstGeom>
        </p:spPr>
        <p:txBody>
          <a:bodyPr anchor="t" rtlCol="false" tIns="0" lIns="0" bIns="0" rIns="0">
            <a:spAutoFit/>
          </a:bodyPr>
          <a:lstStyle/>
          <a:p>
            <a:pPr algn="ctr">
              <a:lnSpc>
                <a:spcPts val="9660"/>
              </a:lnSpc>
            </a:pPr>
            <a:r>
              <a:rPr lang="en-US" b="true" sz="6900">
                <a:solidFill>
                  <a:srgbClr val="E3A73A"/>
                </a:solidFill>
                <a:latin typeface="Aileron Bold"/>
                <a:ea typeface="Aileron Bold"/>
                <a:cs typeface="Aileron Bold"/>
                <a:sym typeface="Aileron Bold"/>
              </a:rPr>
              <a:t>DASHBOARD WALKTHROUGH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0" y="942975"/>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KEY RECOMMENDATIONS </a:t>
            </a:r>
          </a:p>
        </p:txBody>
      </p:sp>
      <p:sp>
        <p:nvSpPr>
          <p:cNvPr name="TextBox 14" id="14"/>
          <p:cNvSpPr txBox="true"/>
          <p:nvPr/>
        </p:nvSpPr>
        <p:spPr>
          <a:xfrm rot="0">
            <a:off x="2413715" y="3365500"/>
            <a:ext cx="13971420" cy="3489325"/>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Koho"/>
                <a:ea typeface="Koho"/>
                <a:cs typeface="Koho"/>
                <a:sym typeface="Koho"/>
              </a:rPr>
              <a:t>Tiered loy</a:t>
            </a:r>
            <a:r>
              <a:rPr lang="en-US" sz="3999">
                <a:solidFill>
                  <a:srgbClr val="000000"/>
                </a:solidFill>
                <a:latin typeface="Koho"/>
                <a:ea typeface="Koho"/>
                <a:cs typeface="Koho"/>
                <a:sym typeface="Koho"/>
              </a:rPr>
              <a:t>alty program based </a:t>
            </a:r>
            <a:r>
              <a:rPr lang="en-US" sz="3999">
                <a:solidFill>
                  <a:srgbClr val="000000"/>
                </a:solidFill>
                <a:latin typeface="Koho"/>
                <a:ea typeface="Koho"/>
                <a:cs typeface="Koho"/>
                <a:sym typeface="Koho"/>
              </a:rPr>
              <a:t>on spend</a:t>
            </a:r>
          </a:p>
          <a:p>
            <a:pPr algn="l" marL="863599" indent="-431800" lvl="1">
              <a:lnSpc>
                <a:spcPts val="5599"/>
              </a:lnSpc>
              <a:buFont typeface="Arial"/>
              <a:buChar char="•"/>
            </a:pPr>
            <a:r>
              <a:rPr lang="en-US" sz="3999">
                <a:solidFill>
                  <a:srgbClr val="000000"/>
                </a:solidFill>
                <a:latin typeface="Koho"/>
                <a:ea typeface="Koho"/>
                <a:cs typeface="Koho"/>
                <a:sym typeface="Koho"/>
              </a:rPr>
              <a:t>Express d</a:t>
            </a:r>
            <a:r>
              <a:rPr lang="en-US" sz="3999">
                <a:solidFill>
                  <a:srgbClr val="000000"/>
                </a:solidFill>
                <a:latin typeface="Koho"/>
                <a:ea typeface="Koho"/>
                <a:cs typeface="Koho"/>
                <a:sym typeface="Koho"/>
              </a:rPr>
              <a:t>elivery as a loyalty perk</a:t>
            </a:r>
          </a:p>
          <a:p>
            <a:pPr algn="l" marL="863599" indent="-431800" lvl="1">
              <a:lnSpc>
                <a:spcPts val="5599"/>
              </a:lnSpc>
              <a:buFont typeface="Arial"/>
              <a:buChar char="•"/>
            </a:pPr>
            <a:r>
              <a:rPr lang="en-US" sz="3999">
                <a:solidFill>
                  <a:srgbClr val="000000"/>
                </a:solidFill>
                <a:latin typeface="Koho"/>
                <a:ea typeface="Koho"/>
                <a:cs typeface="Koho"/>
                <a:sym typeface="Koho"/>
              </a:rPr>
              <a:t>Fix </a:t>
            </a:r>
            <a:r>
              <a:rPr lang="en-US" sz="3999">
                <a:solidFill>
                  <a:srgbClr val="000000"/>
                </a:solidFill>
                <a:latin typeface="Koho"/>
                <a:ea typeface="Koho"/>
                <a:cs typeface="Koho"/>
                <a:sym typeface="Koho"/>
              </a:rPr>
              <a:t>defective-</a:t>
            </a:r>
            <a:r>
              <a:rPr lang="en-US" sz="3999">
                <a:solidFill>
                  <a:srgbClr val="000000"/>
                </a:solidFill>
                <a:latin typeface="Koho"/>
                <a:ea typeface="Koho"/>
                <a:cs typeface="Koho"/>
                <a:sym typeface="Koho"/>
              </a:rPr>
              <a:t>item QC + product descriptions to cut returns</a:t>
            </a:r>
          </a:p>
          <a:p>
            <a:pPr algn="l" marL="863599" indent="-431800" lvl="1">
              <a:lnSpc>
                <a:spcPts val="5599"/>
              </a:lnSpc>
              <a:buFont typeface="Arial"/>
              <a:buChar char="•"/>
            </a:pPr>
            <a:r>
              <a:rPr lang="en-US" sz="3999">
                <a:solidFill>
                  <a:srgbClr val="000000"/>
                </a:solidFill>
                <a:latin typeface="Koho"/>
                <a:ea typeface="Koho"/>
                <a:cs typeface="Koho"/>
                <a:sym typeface="Koho"/>
              </a:rPr>
              <a:t>Bundle low-revenue items with core 5 products</a:t>
            </a:r>
          </a:p>
          <a:p>
            <a:pPr algn="l" marL="863599" indent="-431800" lvl="1">
              <a:lnSpc>
                <a:spcPts val="5599"/>
              </a:lnSpc>
              <a:buFont typeface="Arial"/>
              <a:buChar char="•"/>
            </a:pPr>
            <a:r>
              <a:rPr lang="en-US" sz="3999">
                <a:solidFill>
                  <a:srgbClr val="000000"/>
                </a:solidFill>
                <a:latin typeface="Koho"/>
                <a:ea typeface="Koho"/>
                <a:cs typeface="Koho"/>
                <a:sym typeface="Koho"/>
              </a:rPr>
              <a:t>Target February for promotions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574137"/>
            <a:ext cx="8385425" cy="7519424"/>
          </a:xfrm>
          <a:custGeom>
            <a:avLst/>
            <a:gdLst/>
            <a:ahLst/>
            <a:cxnLst/>
            <a:rect r="r" b="b" t="t" l="l"/>
            <a:pathLst>
              <a:path h="7519424" w="8385425">
                <a:moveTo>
                  <a:pt x="0" y="0"/>
                </a:moveTo>
                <a:lnTo>
                  <a:pt x="8385425" y="0"/>
                </a:lnTo>
                <a:lnTo>
                  <a:pt x="8385425" y="7519425"/>
                </a:lnTo>
                <a:lnTo>
                  <a:pt x="0" y="75194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734377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9276450"/>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650557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66583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0" y="942975"/>
            <a:ext cx="18288000" cy="1193800"/>
          </a:xfrm>
          <a:prstGeom prst="rect">
            <a:avLst/>
          </a:prstGeom>
        </p:spPr>
        <p:txBody>
          <a:bodyPr anchor="t" rtlCol="false" tIns="0" lIns="0" bIns="0" rIns="0">
            <a:spAutoFit/>
          </a:bodyPr>
          <a:lstStyle/>
          <a:p>
            <a:pPr algn="ctr">
              <a:lnSpc>
                <a:spcPts val="9799"/>
              </a:lnSpc>
            </a:pPr>
            <a:r>
              <a:rPr lang="en-US" b="true" sz="6999">
                <a:solidFill>
                  <a:srgbClr val="E3A73A"/>
                </a:solidFill>
                <a:latin typeface="Aileron Bold"/>
                <a:ea typeface="Aileron Bold"/>
                <a:cs typeface="Aileron Bold"/>
                <a:sym typeface="Aileron Bold"/>
              </a:rPr>
              <a:t>CONCLUSION</a:t>
            </a:r>
          </a:p>
        </p:txBody>
      </p:sp>
      <p:sp>
        <p:nvSpPr>
          <p:cNvPr name="TextBox 14" id="14"/>
          <p:cNvSpPr txBox="true"/>
          <p:nvPr/>
        </p:nvSpPr>
        <p:spPr>
          <a:xfrm rot="0">
            <a:off x="1780584" y="2158870"/>
            <a:ext cx="14652963" cy="6178550"/>
          </a:xfrm>
          <a:prstGeom prst="rect">
            <a:avLst/>
          </a:prstGeom>
        </p:spPr>
        <p:txBody>
          <a:bodyPr anchor="t" rtlCol="false" tIns="0" lIns="0" bIns="0" rIns="0">
            <a:spAutoFit/>
          </a:bodyPr>
          <a:lstStyle/>
          <a:p>
            <a:pPr algn="just">
              <a:lnSpc>
                <a:spcPts val="4900"/>
              </a:lnSpc>
            </a:pPr>
            <a:r>
              <a:rPr lang="en-US" sz="3500">
                <a:solidFill>
                  <a:srgbClr val="000000"/>
                </a:solidFill>
                <a:latin typeface="Koho"/>
                <a:ea typeface="Koho"/>
                <a:cs typeface="Koho"/>
                <a:sym typeface="Koho"/>
              </a:rPr>
              <a:t>The analysis of six years of Amazon data reve</a:t>
            </a:r>
            <a:r>
              <a:rPr lang="en-US" sz="3500">
                <a:solidFill>
                  <a:srgbClr val="000000"/>
                </a:solidFill>
                <a:latin typeface="Koho"/>
                <a:ea typeface="Koho"/>
                <a:cs typeface="Koho"/>
                <a:sym typeface="Koho"/>
              </a:rPr>
              <a:t>aled that a small group of high‑value customers and core products drive m</a:t>
            </a:r>
            <a:r>
              <a:rPr lang="en-US" sz="3500">
                <a:solidFill>
                  <a:srgbClr val="000000"/>
                </a:solidFill>
                <a:latin typeface="Koho"/>
                <a:ea typeface="Koho"/>
                <a:cs typeface="Koho"/>
                <a:sym typeface="Koho"/>
              </a:rPr>
              <a:t>ost revenue. Return rates and d</a:t>
            </a:r>
            <a:r>
              <a:rPr lang="en-US" sz="3500">
                <a:solidFill>
                  <a:srgbClr val="000000"/>
                </a:solidFill>
                <a:latin typeface="Koho"/>
                <a:ea typeface="Koho"/>
                <a:cs typeface="Koho"/>
                <a:sym typeface="Koho"/>
              </a:rPr>
              <a:t>elivery type emerged as critical factors shaping customer satis</a:t>
            </a:r>
            <a:r>
              <a:rPr lang="en-US" sz="3500">
                <a:solidFill>
                  <a:srgbClr val="000000"/>
                </a:solidFill>
                <a:latin typeface="Koho"/>
                <a:ea typeface="Koho"/>
                <a:cs typeface="Koho"/>
                <a:sym typeface="Koho"/>
              </a:rPr>
              <a:t>faction and wa</a:t>
            </a:r>
            <a:r>
              <a:rPr lang="en-US" sz="3500">
                <a:solidFill>
                  <a:srgbClr val="000000"/>
                </a:solidFill>
                <a:latin typeface="Koho"/>
                <a:ea typeface="Koho"/>
                <a:cs typeface="Koho"/>
                <a:sym typeface="Koho"/>
              </a:rPr>
              <a:t>it times.</a:t>
            </a:r>
          </a:p>
          <a:p>
            <a:pPr algn="just">
              <a:lnSpc>
                <a:spcPts val="4900"/>
              </a:lnSpc>
            </a:pPr>
          </a:p>
          <a:p>
            <a:pPr algn="just">
              <a:lnSpc>
                <a:spcPts val="4900"/>
              </a:lnSpc>
            </a:pPr>
            <a:r>
              <a:rPr lang="en-US" sz="3500">
                <a:solidFill>
                  <a:srgbClr val="000000"/>
                </a:solidFill>
                <a:latin typeface="Koho"/>
                <a:ea typeface="Koho"/>
                <a:cs typeface="Koho"/>
                <a:sym typeface="Koho"/>
              </a:rPr>
              <a:t>By implementing a four‑tier loyalty program, targeted discounts, and location‑specific recommendations, Amazon can enhance customer experience and retention. The interactive Power BI dashboard consolidates these insights, offering stakeholders a clear, data‑driven path to boost performance.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34754" y="3954369"/>
            <a:ext cx="13018493" cy="2140138"/>
          </a:xfrm>
          <a:prstGeom prst="rect">
            <a:avLst/>
          </a:prstGeom>
        </p:spPr>
        <p:txBody>
          <a:bodyPr anchor="t" rtlCol="false" tIns="0" lIns="0" bIns="0" rIns="0">
            <a:spAutoFit/>
          </a:bodyPr>
          <a:lstStyle/>
          <a:p>
            <a:pPr algn="ctr">
              <a:lnSpc>
                <a:spcPts val="17489"/>
              </a:lnSpc>
            </a:pPr>
            <a:r>
              <a:rPr lang="en-US" b="true" sz="12492">
                <a:solidFill>
                  <a:srgbClr val="000000"/>
                </a:solidFill>
                <a:latin typeface="Aileron Bold"/>
                <a:ea typeface="Aileron Bold"/>
                <a:cs typeface="Aileron Bold"/>
                <a:sym typeface="Ailer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DAHV4FttXxI</dc:identifier>
  <dcterms:modified xsi:type="dcterms:W3CDTF">2011-08-01T06:04:30Z</dcterms:modified>
  <cp:revision>1</cp:revision>
  <dc:title>Presentation</dc:title>
</cp:coreProperties>
</file>